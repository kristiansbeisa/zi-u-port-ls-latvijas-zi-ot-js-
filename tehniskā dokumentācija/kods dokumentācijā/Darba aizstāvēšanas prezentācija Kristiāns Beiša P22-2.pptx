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9" r:id="rId6"/>
    <p:sldId id="263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DD374-E947-4708-854E-112773FBF0AB}" v="36" dt="2026-05-28T09:27:28.479"/>
    <p1510:client id="{BFAEF02B-8725-4AC3-B296-3797C3113474}" v="257" dt="2026-05-29T07:54:25.833"/>
    <p1510:client id="{F283BC90-7AAB-442E-A476-3AB0CFCCFF8C}" v="80" dt="2026-05-29T09:44:59.652"/>
    <p1510:client id="{F28C9772-6B17-44DC-8220-DFD443E5759D}" v="37" dt="2026-05-28T21:20:15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rsraksta sla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Apakšvirsrakst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v-LV"/>
              <a:t>Rediģēt šablona apakšvirsraksta stilu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55F6-B2BD-4B57-A915-5AFD26572708}" type="datetimeFigureOut">
              <a:rPr lang="lv-LV" smtClean="0"/>
              <a:t>29.05.2026</a:t>
            </a:fld>
            <a:endParaRPr lang="lv-LV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8695-408F-4A8D-8F85-348A0719A06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738033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rsraksts un sat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Satura vietturis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55F6-B2BD-4B57-A915-5AFD26572708}" type="datetimeFigureOut">
              <a:rPr lang="lv-LV" smtClean="0"/>
              <a:t>29.05.2026</a:t>
            </a:fld>
            <a:endParaRPr lang="lv-LV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8695-408F-4A8D-8F85-348A0719A06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910438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adaļas galv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Teksta vietturis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55F6-B2BD-4B57-A915-5AFD26572708}" type="datetimeFigureOut">
              <a:rPr lang="lv-LV" smtClean="0"/>
              <a:t>29.05.2026</a:t>
            </a:fld>
            <a:endParaRPr lang="lv-LV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8695-408F-4A8D-8F85-348A0719A06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209348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vi satu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Satura vietturis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Satura vietturis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5" name="Datuma vietturis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55F6-B2BD-4B57-A915-5AFD26572708}" type="datetimeFigureOut">
              <a:rPr lang="lv-LV" smtClean="0"/>
              <a:t>29.05.2026</a:t>
            </a:fld>
            <a:endParaRPr lang="lv-LV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8695-408F-4A8D-8F85-348A0719A06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81019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līdzināju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Teksta vietturis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4" name="Satura vietturis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5" name="Teksta vietturis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6" name="Satura vietturis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7" name="Datuma vietturis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55F6-B2BD-4B57-A915-5AFD26572708}" type="datetimeFigureOut">
              <a:rPr lang="lv-LV" smtClean="0"/>
              <a:t>29.05.2026</a:t>
            </a:fld>
            <a:endParaRPr lang="lv-LV"/>
          </a:p>
        </p:txBody>
      </p:sp>
      <p:sp>
        <p:nvSpPr>
          <p:cNvPr id="8" name="Kājenes vietturis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aida numura vietturis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8695-408F-4A8D-8F85-348A0719A06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021146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ai virsra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Datuma vietturis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55F6-B2BD-4B57-A915-5AFD26572708}" type="datetimeFigureOut">
              <a:rPr lang="lv-LV" smtClean="0"/>
              <a:t>29.05.2026</a:t>
            </a:fld>
            <a:endParaRPr lang="lv-LV"/>
          </a:p>
        </p:txBody>
      </p:sp>
      <p:sp>
        <p:nvSpPr>
          <p:cNvPr id="4" name="Kājenes vietturis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5" name="Slaida numura vietturis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8695-408F-4A8D-8F85-348A0719A06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74057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k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a vietturis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55F6-B2BD-4B57-A915-5AFD26572708}" type="datetimeFigureOut">
              <a:rPr lang="lv-LV" smtClean="0"/>
              <a:t>29.05.2026</a:t>
            </a:fld>
            <a:endParaRPr lang="lv-LV"/>
          </a:p>
        </p:txBody>
      </p:sp>
      <p:sp>
        <p:nvSpPr>
          <p:cNvPr id="3" name="Kājenes vietturis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8695-408F-4A8D-8F85-348A0719A06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797520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turs ar paraks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Satura vietturis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Teksta vietturis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5" name="Datuma vietturis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55F6-B2BD-4B57-A915-5AFD26572708}" type="datetimeFigureOut">
              <a:rPr lang="lv-LV" smtClean="0"/>
              <a:t>29.05.2026</a:t>
            </a:fld>
            <a:endParaRPr lang="lv-LV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8695-408F-4A8D-8F85-348A0719A06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80783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ttēls ar paraks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v-LV"/>
              <a:t>Rediģēt šablona virsraksta stilu</a:t>
            </a:r>
          </a:p>
        </p:txBody>
      </p:sp>
      <p:sp>
        <p:nvSpPr>
          <p:cNvPr id="3" name="Attēla vietturis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v-LV"/>
          </a:p>
        </p:txBody>
      </p:sp>
      <p:sp>
        <p:nvSpPr>
          <p:cNvPr id="4" name="Teksta vietturis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v-LV"/>
              <a:t>Rediģēt šablona teksta stilus</a:t>
            </a:r>
          </a:p>
        </p:txBody>
      </p:sp>
      <p:sp>
        <p:nvSpPr>
          <p:cNvPr id="5" name="Datuma vietturis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55F6-B2BD-4B57-A915-5AFD26572708}" type="datetimeFigureOut">
              <a:rPr lang="lv-LV" smtClean="0"/>
              <a:t>29.05.2026</a:t>
            </a:fld>
            <a:endParaRPr lang="lv-LV"/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8695-408F-4A8D-8F85-348A0719A06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63939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irsraksts un vertikāls te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Vertikāls teksta vietturis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55F6-B2BD-4B57-A915-5AFD26572708}" type="datetimeFigureOut">
              <a:rPr lang="lv-LV" smtClean="0"/>
              <a:t>29.05.2026</a:t>
            </a:fld>
            <a:endParaRPr lang="lv-LV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8695-408F-4A8D-8F85-348A0719A06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306235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āls virsraksts un tek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āls virsrakst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Vertikāls teksta vietturis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55F6-B2BD-4B57-A915-5AFD26572708}" type="datetimeFigureOut">
              <a:rPr lang="lv-LV" smtClean="0"/>
              <a:t>29.05.2026</a:t>
            </a:fld>
            <a:endParaRPr lang="lv-LV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38695-408F-4A8D-8F85-348A0719A06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282885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a viettur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v-LV"/>
              <a:t>Rediģēt šablona virsraksta stilu</a:t>
            </a:r>
          </a:p>
        </p:txBody>
      </p:sp>
      <p:sp>
        <p:nvSpPr>
          <p:cNvPr id="3" name="Teksta vietturis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v-LV"/>
              <a:t>Rediģēt šablona teksta stilus</a:t>
            </a:r>
          </a:p>
          <a:p>
            <a:pPr lvl="1"/>
            <a:r>
              <a:rPr lang="lv-LV"/>
              <a:t>Otrais līmenis</a:t>
            </a:r>
          </a:p>
          <a:p>
            <a:pPr lvl="2"/>
            <a:r>
              <a:rPr lang="lv-LV"/>
              <a:t>Trešais līmenis</a:t>
            </a:r>
          </a:p>
          <a:p>
            <a:pPr lvl="3"/>
            <a:r>
              <a:rPr lang="lv-LV"/>
              <a:t>Ceturtais līmenis</a:t>
            </a:r>
          </a:p>
          <a:p>
            <a:pPr lvl="4"/>
            <a:r>
              <a:rPr lang="lv-LV"/>
              <a:t>Piektais līmenis</a:t>
            </a:r>
          </a:p>
        </p:txBody>
      </p:sp>
      <p:sp>
        <p:nvSpPr>
          <p:cNvPr id="4" name="Datuma vietturis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155F6-B2BD-4B57-A915-5AFD26572708}" type="datetimeFigureOut">
              <a:rPr lang="lv-LV" smtClean="0"/>
              <a:t>29.05.2026</a:t>
            </a:fld>
            <a:endParaRPr lang="lv-LV"/>
          </a:p>
        </p:txBody>
      </p:sp>
      <p:sp>
        <p:nvSpPr>
          <p:cNvPr id="5" name="Kājenes vietturis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aida numura vietturis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38695-408F-4A8D-8F85-348A0719A062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84202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v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lv-LV" dirty="0">
                <a:latin typeface="Arial"/>
                <a:ea typeface="+mn-lt"/>
                <a:cs typeface="+mn-lt"/>
              </a:rPr>
              <a:t>Ziņu portāls "Latvijas ziņotājs"</a:t>
            </a:r>
          </a:p>
        </p:txBody>
      </p:sp>
      <p:sp>
        <p:nvSpPr>
          <p:cNvPr id="3" name="Apakšvirsrakst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lv-LV" sz="3600" dirty="0">
              <a:latin typeface="Arial"/>
              <a:ea typeface="+mn-lt"/>
              <a:cs typeface="+mn-lt"/>
            </a:endParaRPr>
          </a:p>
          <a:p>
            <a:r>
              <a:rPr lang="lv-LV" sz="4400">
                <a:latin typeface="Arial"/>
                <a:ea typeface="+mn-lt"/>
                <a:cs typeface="+mn-lt"/>
              </a:rPr>
              <a:t>Kristiāns Beiša P22-2</a:t>
            </a:r>
            <a:endParaRPr lang="lv-LV" sz="4400"/>
          </a:p>
        </p:txBody>
      </p:sp>
    </p:spTree>
    <p:extLst>
      <p:ext uri="{BB962C8B-B14F-4D97-AF65-F5344CB8AC3E}">
        <p14:creationId xmlns:p14="http://schemas.microsoft.com/office/powerpoint/2010/main" val="144549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C2711A1-A45B-3302-8567-1025E3FC1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b="1" dirty="0">
                <a:latin typeface="Arial"/>
                <a:cs typeface="Arial"/>
              </a:rPr>
              <a:t>Par ziņu portālu "Latvijas ziņotājs"</a:t>
            </a:r>
            <a:endParaRPr lang="lv-LV">
              <a:latin typeface="Arial"/>
              <a:cs typeface="Arial"/>
            </a:endParaRP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9728066A-7A7F-49CD-EEBE-C6C39B397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lv-LV" sz="3600">
                <a:latin typeface="Arial"/>
                <a:ea typeface="+mn-lt"/>
                <a:cs typeface="+mn-lt"/>
              </a:rPr>
              <a:t>Jaunākie notikumi</a:t>
            </a:r>
          </a:p>
          <a:p>
            <a:r>
              <a:rPr lang="lv-LV" sz="3600">
                <a:latin typeface="Arial"/>
                <a:ea typeface="+mn-lt"/>
                <a:cs typeface="+mn-lt"/>
              </a:rPr>
              <a:t>Visiem Latvijas iedzīvotājiem</a:t>
            </a:r>
            <a:endParaRPr lang="lv-LV">
              <a:latin typeface="Aptos" panose="020B0004020202020204"/>
              <a:ea typeface="+mn-lt"/>
              <a:cs typeface="+mn-lt"/>
            </a:endParaRPr>
          </a:p>
          <a:p>
            <a:r>
              <a:rPr lang="lv-LV" sz="3600">
                <a:latin typeface="Arial"/>
                <a:ea typeface="+mn-lt"/>
                <a:cs typeface="+mn-lt"/>
              </a:rPr>
              <a:t>Latviešu valodā</a:t>
            </a:r>
            <a:endParaRPr lang="lv-LV"/>
          </a:p>
          <a:p>
            <a:pPr marL="0" indent="0">
              <a:buNone/>
            </a:pPr>
            <a:endParaRPr lang="lv-LV" sz="3600" dirty="0">
              <a:latin typeface="Arial"/>
              <a:ea typeface="+mn-lt"/>
              <a:cs typeface="+mn-lt"/>
            </a:endParaRPr>
          </a:p>
          <a:p>
            <a:pPr marL="0" indent="0">
              <a:buNone/>
            </a:pPr>
            <a:r>
              <a:rPr lang="lv-LV" sz="3600">
                <a:latin typeface="Arial"/>
                <a:ea typeface="+mn-lt"/>
                <a:cs typeface="+mn-lt"/>
              </a:rPr>
              <a:t>Atšķirības no citiem ziņu portāliem:</a:t>
            </a:r>
          </a:p>
          <a:p>
            <a:r>
              <a:rPr lang="lv-LV" sz="3600" dirty="0">
                <a:latin typeface="Arial"/>
                <a:ea typeface="+mn-lt"/>
                <a:cs typeface="+mn-lt"/>
              </a:rPr>
              <a:t>Iespēja jebkuram veidot ziņas</a:t>
            </a:r>
          </a:p>
          <a:p>
            <a:r>
              <a:rPr lang="lv-LV" sz="3600" dirty="0">
                <a:latin typeface="Arial"/>
                <a:ea typeface="+mn-lt"/>
                <a:cs typeface="+mn-lt"/>
              </a:rPr>
              <a:t>Tiešsaistes </a:t>
            </a:r>
            <a:r>
              <a:rPr lang="lv-LV" sz="3600">
                <a:latin typeface="Arial"/>
                <a:ea typeface="+mn-lt"/>
                <a:cs typeface="+mn-lt"/>
              </a:rPr>
              <a:t>tērzētavas</a:t>
            </a:r>
          </a:p>
          <a:p>
            <a:endParaRPr lang="lv-LV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E7E96-0485-A687-72C4-609B20B86F22}"/>
              </a:ext>
            </a:extLst>
          </p:cNvPr>
          <p:cNvSpPr txBox="1"/>
          <p:nvPr/>
        </p:nvSpPr>
        <p:spPr>
          <a:xfrm>
            <a:off x="11352836" y="6245506"/>
            <a:ext cx="60767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latin typeface="Arial"/>
                <a:cs typeface="Arial"/>
              </a:rPr>
              <a:t>2</a:t>
            </a:r>
            <a:endParaRPr lang="lv-LV"/>
          </a:p>
          <a:p>
            <a:pPr algn="ctr"/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99574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6430A37-0C6B-89B8-E524-D4CC9492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b="1" dirty="0">
                <a:latin typeface="Arial"/>
                <a:cs typeface="Arial"/>
              </a:rPr>
              <a:t>Ziņu portāla pamata uzdevumi</a:t>
            </a:r>
            <a:endParaRPr lang="lv-LV"/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0292B8D9-8B88-8DBC-253F-4F66BD943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8971" cy="44139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lv-LV" sz="3600" dirty="0">
                <a:latin typeface="Arial"/>
                <a:ea typeface="+mn-lt"/>
                <a:cs typeface="+mn-lt"/>
              </a:rPr>
              <a:t>Meklēt un lasīt ziņas</a:t>
            </a:r>
          </a:p>
          <a:p>
            <a:r>
              <a:rPr lang="lv-LV" sz="3600" dirty="0">
                <a:latin typeface="Arial"/>
                <a:ea typeface="+mn-lt"/>
                <a:cs typeface="+mn-lt"/>
              </a:rPr>
              <a:t>Izveidot kontu</a:t>
            </a:r>
          </a:p>
          <a:p>
            <a:r>
              <a:rPr lang="lv-LV" sz="3600" dirty="0">
                <a:latin typeface="Arial"/>
                <a:ea typeface="+mn-lt"/>
                <a:cs typeface="+mn-lt"/>
              </a:rPr>
              <a:t>Pievienot atsauksmes</a:t>
            </a:r>
          </a:p>
          <a:p>
            <a:r>
              <a:rPr lang="lv-LV" sz="3600" dirty="0">
                <a:latin typeface="Arial"/>
                <a:ea typeface="+mn-lt"/>
                <a:cs typeface="+mn-lt"/>
              </a:rPr>
              <a:t>Pievienot ziņas</a:t>
            </a:r>
          </a:p>
          <a:p>
            <a:r>
              <a:rPr lang="lv-LV" sz="3600" dirty="0">
                <a:latin typeface="Arial"/>
                <a:ea typeface="+mn-lt"/>
                <a:cs typeface="+mn-lt"/>
              </a:rPr>
              <a:t>Sarakstīties tiešsaistes </a:t>
            </a:r>
            <a:r>
              <a:rPr lang="lv-LV" sz="3600" dirty="0" err="1">
                <a:latin typeface="Arial"/>
                <a:ea typeface="+mn-lt"/>
                <a:cs typeface="+mn-lt"/>
              </a:rPr>
              <a:t>tērzētavās</a:t>
            </a:r>
            <a:endParaRPr lang="lv-LV" sz="3600" dirty="0">
              <a:latin typeface="Arial"/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B4B4C-6908-A68B-F839-4F48F4A73F5E}"/>
              </a:ext>
            </a:extLst>
          </p:cNvPr>
          <p:cNvSpPr txBox="1"/>
          <p:nvPr/>
        </p:nvSpPr>
        <p:spPr>
          <a:xfrm>
            <a:off x="11401063" y="6245506"/>
            <a:ext cx="79093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Arial"/>
              </a:rPr>
              <a:t>3</a:t>
            </a:r>
            <a:endParaRPr lang="lv-LV"/>
          </a:p>
          <a:p>
            <a:pPr algn="ctr"/>
            <a:endParaRPr lang="lv-LV"/>
          </a:p>
        </p:txBody>
      </p:sp>
      <p:pic>
        <p:nvPicPr>
          <p:cNvPr id="7" name="Attēls 6" descr="Attēls, kurā ir zibens, mākonis, pērkona negaiss, pērkons&#10;&#10;Mākslīgā intelekta ģenerēts saturs var būt nepareizs.">
            <a:extLst>
              <a:ext uri="{FF2B5EF4-FFF2-40B4-BE49-F238E27FC236}">
                <a16:creationId xmlns:a16="http://schemas.microsoft.com/office/drawing/2014/main" id="{7A0D5673-A78C-9FB6-A6F5-7D14FC5BA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220" y="1823515"/>
            <a:ext cx="5004408" cy="386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9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isnstūris 2">
            <a:extLst>
              <a:ext uri="{FF2B5EF4-FFF2-40B4-BE49-F238E27FC236}">
                <a16:creationId xmlns:a16="http://schemas.microsoft.com/office/drawing/2014/main" id="{DFE9515D-8F3D-368C-6270-AA9E2B2DBEFA}"/>
              </a:ext>
            </a:extLst>
          </p:cNvPr>
          <p:cNvSpPr/>
          <p:nvPr/>
        </p:nvSpPr>
        <p:spPr>
          <a:xfrm>
            <a:off x="222010" y="203228"/>
            <a:ext cx="11709129" cy="6427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18139A6D-0C00-0E15-F064-162D686D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b="1" dirty="0">
                <a:latin typeface="Arial"/>
                <a:cs typeface="Arial"/>
              </a:rPr>
              <a:t>Izmantotās tehnoloģijas</a:t>
            </a:r>
            <a:endParaRPr lang="lv-LV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6BD1C7-0F4E-EC4B-B521-8A49B019ACD4}"/>
              </a:ext>
            </a:extLst>
          </p:cNvPr>
          <p:cNvSpPr txBox="1"/>
          <p:nvPr/>
        </p:nvSpPr>
        <p:spPr>
          <a:xfrm>
            <a:off x="11401063" y="6052163"/>
            <a:ext cx="79093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Arial"/>
              </a:rPr>
              <a:t>4</a:t>
            </a:r>
            <a:endParaRPr lang="lv-LV"/>
          </a:p>
          <a:p>
            <a:pPr algn="ctr"/>
            <a:endParaRPr lang="lv-LV"/>
          </a:p>
        </p:txBody>
      </p:sp>
      <p:pic>
        <p:nvPicPr>
          <p:cNvPr id="6" name="Attēls 5" descr="HTML - Wikipedia">
            <a:extLst>
              <a:ext uri="{FF2B5EF4-FFF2-40B4-BE49-F238E27FC236}">
                <a16:creationId xmlns:a16="http://schemas.microsoft.com/office/drawing/2014/main" id="{F763BAEB-8B79-8BF1-5AFF-6DD4BCE76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94" y="2071420"/>
            <a:ext cx="1578835" cy="1479207"/>
          </a:xfrm>
          <a:prstGeom prst="rect">
            <a:avLst/>
          </a:prstGeom>
        </p:spPr>
      </p:pic>
      <p:pic>
        <p:nvPicPr>
          <p:cNvPr id="9" name="Attēls 8" descr="Attēls, kurā ir logotips, ekrānuzņēmums, teksts, Elektriski zila&#10;&#10;Mākslīgā intelekta ģenerēts saturs var būt nepareizs.">
            <a:extLst>
              <a:ext uri="{FF2B5EF4-FFF2-40B4-BE49-F238E27FC236}">
                <a16:creationId xmlns:a16="http://schemas.microsoft.com/office/drawing/2014/main" id="{38AE6A1A-8FF5-2CB7-CE51-C89A2623E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600" y="2029002"/>
            <a:ext cx="1108936" cy="1564040"/>
          </a:xfrm>
          <a:prstGeom prst="rect">
            <a:avLst/>
          </a:prstGeom>
        </p:spPr>
      </p:pic>
      <p:pic>
        <p:nvPicPr>
          <p:cNvPr id="4" name="Attēls 3" descr="Attēls, kurā ir logotips, simbols, dizains, dzeltens&#10;&#10;Mākslīgā intelekta ģenerēts saturs var būt nepareizs.">
            <a:extLst>
              <a:ext uri="{FF2B5EF4-FFF2-40B4-BE49-F238E27FC236}">
                <a16:creationId xmlns:a16="http://schemas.microsoft.com/office/drawing/2014/main" id="{390A56F7-DC53-940F-FEB7-9E9A2E3C3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109" y="2044352"/>
            <a:ext cx="1109206" cy="1537570"/>
          </a:xfrm>
          <a:prstGeom prst="rect">
            <a:avLst/>
          </a:prstGeom>
        </p:spPr>
      </p:pic>
      <p:pic>
        <p:nvPicPr>
          <p:cNvPr id="7" name="Attēls 6" descr="File:PHP-logo.svg - Wikimedia Commons">
            <a:extLst>
              <a:ext uri="{FF2B5EF4-FFF2-40B4-BE49-F238E27FC236}">
                <a16:creationId xmlns:a16="http://schemas.microsoft.com/office/drawing/2014/main" id="{FAAF1955-8A74-98E8-F807-1E52EA8D1D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424" y="2294872"/>
            <a:ext cx="2278301" cy="1140913"/>
          </a:xfrm>
          <a:prstGeom prst="rect">
            <a:avLst/>
          </a:prstGeom>
        </p:spPr>
      </p:pic>
      <p:pic>
        <p:nvPicPr>
          <p:cNvPr id="11" name="Attēls 10" descr="MDBootstrap">
            <a:extLst>
              <a:ext uri="{FF2B5EF4-FFF2-40B4-BE49-F238E27FC236}">
                <a16:creationId xmlns:a16="http://schemas.microsoft.com/office/drawing/2014/main" id="{A7074A01-B981-0656-1303-49C7C885E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6346" y="3839051"/>
            <a:ext cx="2899775" cy="954416"/>
          </a:xfrm>
          <a:prstGeom prst="rect">
            <a:avLst/>
          </a:prstGeom>
        </p:spPr>
      </p:pic>
      <p:pic>
        <p:nvPicPr>
          <p:cNvPr id="14" name="Attēls 13" descr="MySQL Database Consulting, Deployment and Managed Support Services">
            <a:extLst>
              <a:ext uri="{FF2B5EF4-FFF2-40B4-BE49-F238E27FC236}">
                <a16:creationId xmlns:a16="http://schemas.microsoft.com/office/drawing/2014/main" id="{BFE48160-59E2-75D4-1EC3-7EC9FBAA0A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4068" y="3216717"/>
            <a:ext cx="3640899" cy="3640899"/>
          </a:xfrm>
          <a:prstGeom prst="rect">
            <a:avLst/>
          </a:prstGeom>
        </p:spPr>
      </p:pic>
      <p:pic>
        <p:nvPicPr>
          <p:cNvPr id="8" name="Attēls 7" descr="GitHub logo PNG transparent image download, size: 1125x417px">
            <a:extLst>
              <a:ext uri="{FF2B5EF4-FFF2-40B4-BE49-F238E27FC236}">
                <a16:creationId xmlns:a16="http://schemas.microsoft.com/office/drawing/2014/main" id="{1D89A7F9-9E95-CDDF-9600-0C120F0B6B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4325" y="2361151"/>
            <a:ext cx="2743198" cy="1016812"/>
          </a:xfrm>
          <a:prstGeom prst="rect">
            <a:avLst/>
          </a:prstGeom>
        </p:spPr>
      </p:pic>
      <p:pic>
        <p:nvPicPr>
          <p:cNvPr id="12" name="Attēls 11" descr="Attēls, kurā ir fonts, grafika, teksts, tipogrāfija&#10;&#10;Mākslīgā intelekta ģenerēts saturs var būt nepareizs.">
            <a:extLst>
              <a:ext uri="{FF2B5EF4-FFF2-40B4-BE49-F238E27FC236}">
                <a16:creationId xmlns:a16="http://schemas.microsoft.com/office/drawing/2014/main" id="{926D03C5-B113-4D4D-1BBD-1770FBC14D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0567" y="4043884"/>
            <a:ext cx="3762375" cy="523875"/>
          </a:xfrm>
          <a:prstGeom prst="rect">
            <a:avLst/>
          </a:prstGeom>
        </p:spPr>
      </p:pic>
      <p:pic>
        <p:nvPicPr>
          <p:cNvPr id="13" name="Attēls 12" descr="Attēls, kurā ir ekrānuzņēmums, grafika, rinda, simbols&#10;&#10;Mākslīgā intelekta ģenerēts saturs var būt nepareizs.">
            <a:extLst>
              <a:ext uri="{FF2B5EF4-FFF2-40B4-BE49-F238E27FC236}">
                <a16:creationId xmlns:a16="http://schemas.microsoft.com/office/drawing/2014/main" id="{274F1CDC-9994-5A76-5A58-3A6811A8A1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442" y="3866028"/>
            <a:ext cx="941295" cy="874061"/>
          </a:xfrm>
          <a:prstGeom prst="rect">
            <a:avLst/>
          </a:prstGeom>
        </p:spPr>
      </p:pic>
      <p:pic>
        <p:nvPicPr>
          <p:cNvPr id="15" name="Attēls 14" descr="Attēls, kurā ir fonts, tipogrāfija, grafika, logotips&#10;&#10;Mākslīgā intelekta ģenerēts saturs var būt nepareizs.">
            <a:extLst>
              <a:ext uri="{FF2B5EF4-FFF2-40B4-BE49-F238E27FC236}">
                <a16:creationId xmlns:a16="http://schemas.microsoft.com/office/drawing/2014/main" id="{E1AC0EA5-92D8-D843-615A-04CAEBE6C8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4226" y="4931928"/>
            <a:ext cx="2376031" cy="41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94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2BE67B-8C28-3127-FAAD-B5AEB3FCF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b="1" dirty="0">
                <a:latin typeface="Arial"/>
                <a:cs typeface="Arial"/>
              </a:rPr>
              <a:t>Darba apjoms</a:t>
            </a:r>
            <a:endParaRPr lang="lv-LV" dirty="0"/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CB1056D7-9AD2-0AE3-ED36-C7BAD72E4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62" y="1710803"/>
            <a:ext cx="10546915" cy="25246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lv-LV" sz="3600">
                <a:latin typeface="Arial"/>
                <a:ea typeface="+mn-lt"/>
                <a:cs typeface="Arial"/>
              </a:rPr>
              <a:t> Pašrakstītās komandrindas:</a:t>
            </a:r>
            <a:endParaRPr lang="lv-LV" sz="3600" dirty="0">
              <a:latin typeface="Arial"/>
              <a:ea typeface="+mn-lt"/>
              <a:cs typeface="Arial"/>
            </a:endParaRPr>
          </a:p>
          <a:p>
            <a:pPr marL="685800">
              <a:buFont typeface="Arial"/>
              <a:buChar char="•"/>
            </a:pPr>
            <a:r>
              <a:rPr lang="lv-LV" sz="3600">
                <a:latin typeface="Arial"/>
                <a:ea typeface="+mn-lt"/>
                <a:cs typeface="Arial"/>
              </a:rPr>
              <a:t>dizainam: 850 - 900</a:t>
            </a:r>
            <a:endParaRPr lang="en-US" sz="3600">
              <a:latin typeface="Arial"/>
              <a:ea typeface="+mn-lt"/>
              <a:cs typeface="Arial"/>
            </a:endParaRPr>
          </a:p>
          <a:p>
            <a:pPr marL="685800">
              <a:buFont typeface="Arial"/>
              <a:buChar char="•"/>
            </a:pPr>
            <a:r>
              <a:rPr lang="lv-LV" sz="3600">
                <a:latin typeface="Arial"/>
                <a:ea typeface="+mn-lt"/>
                <a:cs typeface="Arial"/>
              </a:rPr>
              <a:t>funkcionalitātei: 700 - 750</a:t>
            </a:r>
            <a:endParaRPr lang="en-US" sz="3600">
              <a:latin typeface="Arial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r>
              <a:rPr lang="lv-LV" sz="3600">
                <a:latin typeface="Arial"/>
                <a:ea typeface="+mn-lt"/>
                <a:cs typeface="Arial"/>
              </a:rPr>
              <a:t>Kopā pašrakstītas un uzģenerētas: ~ 7 000</a:t>
            </a:r>
            <a:endParaRPr lang="en-US">
              <a:latin typeface="Aptos" panose="020B0004020202020204"/>
              <a:ea typeface="+mn-lt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04D2F-62F5-49FD-1C97-224321EDF643}"/>
              </a:ext>
            </a:extLst>
          </p:cNvPr>
          <p:cNvSpPr txBox="1"/>
          <p:nvPr/>
        </p:nvSpPr>
        <p:spPr>
          <a:xfrm>
            <a:off x="11401063" y="6245506"/>
            <a:ext cx="79093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latin typeface="Arial"/>
                <a:cs typeface="Arial"/>
              </a:rPr>
              <a:t>5</a:t>
            </a:r>
            <a:endParaRPr lang="lv-LV"/>
          </a:p>
          <a:p>
            <a:pPr algn="ctr"/>
            <a:endParaRPr lang="lv-LV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2CBAD-4F8D-D6D6-4D9C-78AA9FE4A3F0}"/>
              </a:ext>
            </a:extLst>
          </p:cNvPr>
          <p:cNvSpPr txBox="1"/>
          <p:nvPr/>
        </p:nvSpPr>
        <p:spPr>
          <a:xfrm>
            <a:off x="6423156" y="4475676"/>
            <a:ext cx="3776596" cy="18446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lv-LV" sz="3600">
                <a:latin typeface="Arial"/>
                <a:ea typeface="Calibri"/>
                <a:cs typeface="Calibri"/>
              </a:rPr>
              <a:t>8 formas</a:t>
            </a:r>
            <a:endParaRPr lang="lv-LV">
              <a:latin typeface="Arial"/>
              <a:ea typeface="Calibri"/>
              <a:cs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lv-LV" sz="3600">
                <a:latin typeface="Arial"/>
                <a:ea typeface="Calibri"/>
                <a:cs typeface="Calibri"/>
              </a:rPr>
              <a:t>8 </a:t>
            </a:r>
            <a:r>
              <a:rPr lang="lv-LV" sz="3600" dirty="0">
                <a:latin typeface="Arial"/>
                <a:ea typeface="Calibri"/>
                <a:cs typeface="Calibri"/>
              </a:rPr>
              <a:t>funkcijas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lv-LV" sz="3600">
                <a:latin typeface="Arial"/>
                <a:ea typeface="Calibri"/>
                <a:cs typeface="Calibri"/>
              </a:rPr>
              <a:t>13 moduļi</a:t>
            </a:r>
            <a:endParaRPr lang="lv-LV" sz="3600" dirty="0">
              <a:latin typeface="Arial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03899D-9DB1-9080-C0C3-354CA41A89FB}"/>
              </a:ext>
            </a:extLst>
          </p:cNvPr>
          <p:cNvSpPr txBox="1"/>
          <p:nvPr/>
        </p:nvSpPr>
        <p:spPr>
          <a:xfrm>
            <a:off x="2970571" y="4449515"/>
            <a:ext cx="2743199" cy="19000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lv-LV" sz="3600">
                <a:latin typeface="Arial"/>
                <a:ea typeface="Calibri"/>
                <a:cs typeface="Calibri"/>
              </a:rPr>
              <a:t>18 faili</a:t>
            </a:r>
            <a:endParaRPr lang="en-US" sz="3600">
              <a:latin typeface="Arial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lv-LV" sz="3600">
                <a:latin typeface="Arial"/>
                <a:ea typeface="Calibri"/>
                <a:cs typeface="Calibri"/>
              </a:rPr>
              <a:t>6 tabulas</a:t>
            </a:r>
            <a:endParaRPr lang="en-US" sz="3600">
              <a:latin typeface="Arial"/>
              <a:ea typeface="Calibri"/>
              <a:cs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lv-LV" sz="3600">
                <a:latin typeface="Arial"/>
                <a:ea typeface="Calibri"/>
                <a:cs typeface="Calibri"/>
              </a:rPr>
              <a:t>12 cilnes</a:t>
            </a:r>
            <a:endParaRPr lang="lv-LV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2876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F869C22-2156-2CCF-6BD0-CC623D091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b="1" dirty="0">
                <a:latin typeface="Arial"/>
                <a:cs typeface="Arial"/>
              </a:rPr>
              <a:t>Programmas demonstrējums</a:t>
            </a:r>
            <a:endParaRPr lang="lv-LV"/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D1F319A0-D3A2-0867-36A5-FA625B7AA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lv-LV" sz="3600">
                <a:latin typeface="Arial"/>
                <a:ea typeface="+mn-lt"/>
                <a:cs typeface="+mn-lt"/>
              </a:rPr>
              <a:t>Ziņu pievienošana, rediģēšana, dzēšana</a:t>
            </a:r>
            <a:endParaRPr lang="lv-LV"/>
          </a:p>
          <a:p>
            <a:pPr>
              <a:lnSpc>
                <a:spcPct val="150000"/>
              </a:lnSpc>
            </a:pPr>
            <a:r>
              <a:rPr lang="lv-LV" sz="3600" dirty="0">
                <a:latin typeface="Arial"/>
                <a:ea typeface="+mn-lt"/>
                <a:cs typeface="+mn-lt"/>
              </a:rPr>
              <a:t>Atsauksmju lasīšana, pievienošana, dzēšana</a:t>
            </a:r>
          </a:p>
          <a:p>
            <a:pPr>
              <a:lnSpc>
                <a:spcPct val="150000"/>
              </a:lnSpc>
            </a:pPr>
            <a:r>
              <a:rPr lang="lv-LV" sz="3600" dirty="0">
                <a:latin typeface="Arial"/>
                <a:ea typeface="+mn-lt"/>
                <a:cs typeface="+mn-lt"/>
              </a:rPr>
              <a:t>Tiešsaistes </a:t>
            </a:r>
            <a:r>
              <a:rPr lang="lv-LV" sz="3600">
                <a:latin typeface="Arial"/>
                <a:ea typeface="+mn-lt"/>
                <a:cs typeface="+mn-lt"/>
              </a:rPr>
              <a:t>tērzētava</a:t>
            </a:r>
          </a:p>
          <a:p>
            <a:pPr>
              <a:lnSpc>
                <a:spcPct val="150000"/>
              </a:lnSpc>
            </a:pPr>
            <a:r>
              <a:rPr lang="lv-LV" sz="3600">
                <a:latin typeface="Arial"/>
                <a:ea typeface="+mn-lt"/>
                <a:cs typeface="+mn-lt"/>
              </a:rPr>
              <a:t>Darbinieka funkcionalitāte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40393-08A3-2ED6-06DA-AAC03C4C26C3}"/>
              </a:ext>
            </a:extLst>
          </p:cNvPr>
          <p:cNvSpPr txBox="1"/>
          <p:nvPr/>
        </p:nvSpPr>
        <p:spPr>
          <a:xfrm>
            <a:off x="11352836" y="6245506"/>
            <a:ext cx="75235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Arial"/>
              </a:rPr>
              <a:t>6</a:t>
            </a:r>
            <a:endParaRPr lang="lv-LV"/>
          </a:p>
          <a:p>
            <a:pPr algn="ctr"/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455464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isnstūris 3">
            <a:extLst>
              <a:ext uri="{FF2B5EF4-FFF2-40B4-BE49-F238E27FC236}">
                <a16:creationId xmlns:a16="http://schemas.microsoft.com/office/drawing/2014/main" id="{D08D947D-4D19-6898-4277-4D5097629CED}"/>
              </a:ext>
            </a:extLst>
          </p:cNvPr>
          <p:cNvSpPr/>
          <p:nvPr/>
        </p:nvSpPr>
        <p:spPr>
          <a:xfrm>
            <a:off x="240550" y="247474"/>
            <a:ext cx="11689343" cy="63749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v-LV"/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F966315F-6CAA-619D-4DEE-2D9EEF6B9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b="1">
                <a:latin typeface="Arial"/>
                <a:cs typeface="Arial"/>
              </a:rPr>
              <a:t>Testēšana</a:t>
            </a:r>
            <a:endParaRPr lang="lv-LV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48AF8-EAB5-323C-61BD-D62DC4C31DC8}"/>
              </a:ext>
            </a:extLst>
          </p:cNvPr>
          <p:cNvSpPr txBox="1"/>
          <p:nvPr/>
        </p:nvSpPr>
        <p:spPr>
          <a:xfrm>
            <a:off x="11401063" y="6074909"/>
            <a:ext cx="79093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Arial"/>
              </a:rPr>
              <a:t>7</a:t>
            </a:r>
            <a:endParaRPr lang="lv-LV"/>
          </a:p>
          <a:p>
            <a:pPr algn="ctr"/>
            <a:endParaRPr lang="lv-LV"/>
          </a:p>
        </p:txBody>
      </p:sp>
      <p:pic>
        <p:nvPicPr>
          <p:cNvPr id="11" name="Attēls 10" descr="Attēls, kurā ir teksts, grafika, fonts, logotips&#10;&#10;Mākslīgā intelekta ģenerēts saturs var būt nepareizs.">
            <a:extLst>
              <a:ext uri="{FF2B5EF4-FFF2-40B4-BE49-F238E27FC236}">
                <a16:creationId xmlns:a16="http://schemas.microsoft.com/office/drawing/2014/main" id="{9E908AC8-5E25-1B35-C91B-EA3550224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147" y="1464673"/>
            <a:ext cx="1331089" cy="1321444"/>
          </a:xfrm>
          <a:prstGeom prst="rect">
            <a:avLst/>
          </a:prstGeom>
        </p:spPr>
      </p:pic>
      <p:pic>
        <p:nvPicPr>
          <p:cNvPr id="12" name="Attēls 11" descr="Attēls, kurā ir ekrānuzņēmums, grafika, rinda, dizains&#10;&#10;Mākslīgā intelekta ģenerēts saturs var būt nepareizs.">
            <a:extLst>
              <a:ext uri="{FF2B5EF4-FFF2-40B4-BE49-F238E27FC236}">
                <a16:creationId xmlns:a16="http://schemas.microsoft.com/office/drawing/2014/main" id="{15E9A85E-9015-3ABF-CF74-4B50AA87F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01" y="1011993"/>
            <a:ext cx="2218482" cy="2228127"/>
          </a:xfrm>
          <a:prstGeom prst="rect">
            <a:avLst/>
          </a:prstGeom>
        </p:spPr>
      </p:pic>
      <p:pic>
        <p:nvPicPr>
          <p:cNvPr id="13" name="Attēls 12" descr="Attēls, kurā ir grafika, klipkopa, aplis, grafiskais dizains&#10;&#10;Mākslīgā intelekta ģenerēts saturs var būt nepareizs.">
            <a:extLst>
              <a:ext uri="{FF2B5EF4-FFF2-40B4-BE49-F238E27FC236}">
                <a16:creationId xmlns:a16="http://schemas.microsoft.com/office/drawing/2014/main" id="{6F74D769-C16C-238D-0A26-DF80B50C6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855" y="1478485"/>
            <a:ext cx="1538469" cy="1316019"/>
          </a:xfrm>
          <a:prstGeom prst="rect">
            <a:avLst/>
          </a:prstGeom>
        </p:spPr>
      </p:pic>
      <p:pic>
        <p:nvPicPr>
          <p:cNvPr id="14" name="Attēls 13" descr="Attēls, kurā ir klipkopa, logotips, grafika, dizains&#10;&#10;Mākslīgā intelekta ģenerēts saturs var būt nepareizs.">
            <a:extLst>
              <a:ext uri="{FF2B5EF4-FFF2-40B4-BE49-F238E27FC236}">
                <a16:creationId xmlns:a16="http://schemas.microsoft.com/office/drawing/2014/main" id="{72C18F7B-B20E-5C1B-8121-D6853EC71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689" y="1338736"/>
            <a:ext cx="1999045" cy="1584286"/>
          </a:xfrm>
          <a:prstGeom prst="rect">
            <a:avLst/>
          </a:prstGeom>
        </p:spPr>
      </p:pic>
      <p:pic>
        <p:nvPicPr>
          <p:cNvPr id="3" name="Attēls 2" descr="Attēls, kurā ir grafika, aplis, radošums&#10;&#10;Mākslīgā intelekta ģenerēts saturs var būt nepareizs.">
            <a:extLst>
              <a:ext uri="{FF2B5EF4-FFF2-40B4-BE49-F238E27FC236}">
                <a16:creationId xmlns:a16="http://schemas.microsoft.com/office/drawing/2014/main" id="{DC636654-A4C4-A6AA-2840-D3B8C62D65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7099" y="3444983"/>
            <a:ext cx="1190625" cy="1095375"/>
          </a:xfrm>
          <a:prstGeom prst="rect">
            <a:avLst/>
          </a:prstGeom>
        </p:spPr>
      </p:pic>
      <p:pic>
        <p:nvPicPr>
          <p:cNvPr id="6" name="Attēls 5" descr="Attēls, kurā ir fonts, teksts, grafika, tipogrāfija&#10;&#10;Mākslīgā intelekta ģenerēts saturs var būt nepareizs.">
            <a:extLst>
              <a:ext uri="{FF2B5EF4-FFF2-40B4-BE49-F238E27FC236}">
                <a16:creationId xmlns:a16="http://schemas.microsoft.com/office/drawing/2014/main" id="{49845C04-FE74-F79D-3CF6-F423F2888F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0062" y="4641807"/>
            <a:ext cx="1983027" cy="392743"/>
          </a:xfrm>
          <a:prstGeom prst="rect">
            <a:avLst/>
          </a:prstGeom>
        </p:spPr>
      </p:pic>
      <p:pic>
        <p:nvPicPr>
          <p:cNvPr id="8" name="Attēls 7" descr="Opera (web browser) - Wikipedia">
            <a:extLst>
              <a:ext uri="{FF2B5EF4-FFF2-40B4-BE49-F238E27FC236}">
                <a16:creationId xmlns:a16="http://schemas.microsoft.com/office/drawing/2014/main" id="{414D6B70-6989-F486-BA4B-DB651B403E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1013" y="3548780"/>
            <a:ext cx="898221" cy="908659"/>
          </a:xfrm>
          <a:prstGeom prst="rect">
            <a:avLst/>
          </a:prstGeom>
        </p:spPr>
      </p:pic>
      <p:pic>
        <p:nvPicPr>
          <p:cNvPr id="9" name="Attēls 8">
            <a:extLst>
              <a:ext uri="{FF2B5EF4-FFF2-40B4-BE49-F238E27FC236}">
                <a16:creationId xmlns:a16="http://schemas.microsoft.com/office/drawing/2014/main" id="{57AC9D0B-7D7B-0166-D7CA-AB019D83D9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1259" y="4600967"/>
            <a:ext cx="1237729" cy="463985"/>
          </a:xfrm>
          <a:prstGeom prst="rect">
            <a:avLst/>
          </a:prstGeom>
        </p:spPr>
      </p:pic>
      <p:pic>
        <p:nvPicPr>
          <p:cNvPr id="20" name="Attēls 19" descr="Attēls, kurā ir radošums, grafika, krāsainība, klipkopa&#10;&#10;Mākslīgā intelekta ģenerēts saturs var būt nepareizs.">
            <a:extLst>
              <a:ext uri="{FF2B5EF4-FFF2-40B4-BE49-F238E27FC236}">
                <a16:creationId xmlns:a16="http://schemas.microsoft.com/office/drawing/2014/main" id="{5125570D-8BB3-6DFB-1D68-5C9B432700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60698" y="3496849"/>
            <a:ext cx="960332" cy="1002084"/>
          </a:xfrm>
          <a:prstGeom prst="rect">
            <a:avLst/>
          </a:prstGeom>
        </p:spPr>
      </p:pic>
      <p:pic>
        <p:nvPicPr>
          <p:cNvPr id="23" name="Attēls 22" descr="Attēls, kurā ir fonts, grafika, logotips, teksts&#10;&#10;Mākslīgā intelekta ģenerēts saturs var būt nepareizs.">
            <a:extLst>
              <a:ext uri="{FF2B5EF4-FFF2-40B4-BE49-F238E27FC236}">
                <a16:creationId xmlns:a16="http://schemas.microsoft.com/office/drawing/2014/main" id="{F1D3A925-E7F0-0B1D-F54A-0E1D56353E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63335" y="4632672"/>
            <a:ext cx="1555056" cy="400573"/>
          </a:xfrm>
          <a:prstGeom prst="rect">
            <a:avLst/>
          </a:prstGeom>
        </p:spPr>
      </p:pic>
      <p:pic>
        <p:nvPicPr>
          <p:cNvPr id="24" name="Attēls 23" descr="Attēls, kurā ir aplis, krāsainība, grafika, grafiskais dizains&#10;&#10;Mākslīgā intelekta ģenerēts saturs var būt nepareizs.">
            <a:extLst>
              <a:ext uri="{FF2B5EF4-FFF2-40B4-BE49-F238E27FC236}">
                <a16:creationId xmlns:a16="http://schemas.microsoft.com/office/drawing/2014/main" id="{3530979A-E1E7-818B-6E20-3E94153A2A7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6508" y="3298521"/>
            <a:ext cx="970767" cy="970768"/>
          </a:xfrm>
          <a:prstGeom prst="rect">
            <a:avLst/>
          </a:prstGeom>
        </p:spPr>
      </p:pic>
      <p:pic>
        <p:nvPicPr>
          <p:cNvPr id="25" name="Attēls 24" descr="Attēls, kurā ir fonts, tipogrāfija, logotips, grafika&#10;&#10;Mākslīgā intelekta ģenerēts saturs var būt nepareizs.">
            <a:extLst>
              <a:ext uri="{FF2B5EF4-FFF2-40B4-BE49-F238E27FC236}">
                <a16:creationId xmlns:a16="http://schemas.microsoft.com/office/drawing/2014/main" id="{B78C176A-7B25-ACC4-83C6-B955D620BC6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67941" y="3507810"/>
            <a:ext cx="2080365" cy="552189"/>
          </a:xfrm>
          <a:prstGeom prst="rect">
            <a:avLst/>
          </a:prstGeom>
        </p:spPr>
      </p:pic>
      <p:pic>
        <p:nvPicPr>
          <p:cNvPr id="28" name="Attēls 27" descr="Attēls, kurā ir pulkstenis, aplis&#10;&#10;Mākslīgā intelekta ģenerēts saturs var būt nepareizs.">
            <a:extLst>
              <a:ext uri="{FF2B5EF4-FFF2-40B4-BE49-F238E27FC236}">
                <a16:creationId xmlns:a16="http://schemas.microsoft.com/office/drawing/2014/main" id="{B2207404-7E61-F6D2-B01E-F4C8C4AC947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2247" y="4643440"/>
            <a:ext cx="1099290" cy="1036662"/>
          </a:xfrm>
          <a:prstGeom prst="rect">
            <a:avLst/>
          </a:prstGeom>
        </p:spPr>
      </p:pic>
      <p:pic>
        <p:nvPicPr>
          <p:cNvPr id="29" name="Attēls 28" descr="Attēls, kurā ir melns, tumsa&#10;&#10;Mākslīgā intelekta ģenerēts saturs var būt nepareizs.">
            <a:extLst>
              <a:ext uri="{FF2B5EF4-FFF2-40B4-BE49-F238E27FC236}">
                <a16:creationId xmlns:a16="http://schemas.microsoft.com/office/drawing/2014/main" id="{CC78C538-3017-AB1C-0B9A-F4272D4663F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87330" y="4875430"/>
            <a:ext cx="1549314" cy="56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82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1607B31-2351-9722-27C8-1FB2594C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b="1">
                <a:latin typeface="Arial"/>
                <a:cs typeface="Arial"/>
              </a:rPr>
              <a:t>Secinājumi</a:t>
            </a:r>
            <a:endParaRPr lang="lv-LV" b="1"/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334F0B07-7415-9B41-F45E-E287B5CB6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lv-LV" sz="3600" dirty="0">
              <a:latin typeface="Arial"/>
              <a:ea typeface="+mn-lt"/>
              <a:cs typeface="Arial"/>
            </a:endParaRPr>
          </a:p>
          <a:p>
            <a:pPr>
              <a:spcAft>
                <a:spcPts val="2400"/>
              </a:spcAft>
            </a:pPr>
            <a:r>
              <a:rPr lang="lv-LV" sz="3600">
                <a:latin typeface="Arial"/>
                <a:ea typeface="+mn-lt"/>
                <a:cs typeface="Arial"/>
              </a:rPr>
              <a:t>Realizēta visa iecerētā funkcionalitāte</a:t>
            </a:r>
            <a:endParaRPr lang="lv-LV" sz="3600">
              <a:latin typeface="Arial"/>
              <a:ea typeface="+mn-lt"/>
              <a:cs typeface="+mn-lt"/>
            </a:endParaRPr>
          </a:p>
          <a:p>
            <a:r>
              <a:rPr lang="lv-LV" sz="3600">
                <a:latin typeface="Arial"/>
                <a:ea typeface="+mn-lt"/>
                <a:cs typeface="+mn-lt"/>
              </a:rPr>
              <a:t>Grūtākais - publicēto ziņu attēlu un video</a:t>
            </a:r>
            <a:endParaRPr lang="lv-LV" sz="3600">
              <a:latin typeface="Arial"/>
              <a:ea typeface="+mn-lt"/>
              <a:cs typeface="Arial"/>
            </a:endParaRPr>
          </a:p>
          <a:p>
            <a:pPr marL="0" indent="285750">
              <a:buNone/>
            </a:pPr>
            <a:r>
              <a:rPr lang="lv-LV" sz="3600">
                <a:latin typeface="Arial"/>
                <a:ea typeface="+mn-lt"/>
                <a:cs typeface="+mn-lt"/>
              </a:rPr>
              <a:t>glabāšana un attēlošana</a:t>
            </a:r>
            <a:endParaRPr lang="lv-LV" sz="3600">
              <a:latin typeface="Arial"/>
              <a:cs typeface="Arial"/>
            </a:endParaRPr>
          </a:p>
          <a:p>
            <a:pPr marL="0" indent="0">
              <a:buNone/>
            </a:pPr>
            <a:endParaRPr lang="lv-LV" sz="3600" dirty="0">
              <a:latin typeface="Aptos" panose="020B0004020202020204"/>
              <a:ea typeface="+mn-lt"/>
              <a:cs typeface="+mn-lt"/>
            </a:endParaRPr>
          </a:p>
          <a:p>
            <a:endParaRPr lang="lv-LV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D56EE5-5E7A-E57D-27EF-CE0BCBD3495F}"/>
              </a:ext>
            </a:extLst>
          </p:cNvPr>
          <p:cNvSpPr txBox="1"/>
          <p:nvPr/>
        </p:nvSpPr>
        <p:spPr>
          <a:xfrm>
            <a:off x="11401063" y="6245506"/>
            <a:ext cx="79093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Arial"/>
              </a:rPr>
              <a:t>8</a:t>
            </a:r>
            <a:endParaRPr lang="lv-LV"/>
          </a:p>
          <a:p>
            <a:pPr algn="ctr"/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32913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C581AEE-5C65-6D2A-B263-58421A97D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8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lv-LV" sz="6000" dirty="0">
                <a:latin typeface="Arial"/>
                <a:ea typeface="+mn-lt"/>
                <a:cs typeface="+mn-lt"/>
              </a:rPr>
              <a:t>Paldies par uzmanību!</a:t>
            </a:r>
            <a:endParaRPr lang="lv-LV" sz="6000">
              <a:latin typeface="Arial"/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A19DF-99E8-0823-BF72-E10DDEA6198B}"/>
              </a:ext>
            </a:extLst>
          </p:cNvPr>
          <p:cNvSpPr txBox="1"/>
          <p:nvPr/>
        </p:nvSpPr>
        <p:spPr>
          <a:xfrm>
            <a:off x="11401063" y="6245506"/>
            <a:ext cx="79093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Arial"/>
              </a:rPr>
              <a:t>9</a:t>
            </a:r>
            <a:endParaRPr lang="lv-LV"/>
          </a:p>
          <a:p>
            <a:pPr algn="ctr"/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948007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ē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estād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estā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Platekrāna</PresentationFormat>
  <Paragraphs>0</Paragraphs>
  <Slides>9</Slides>
  <Notes>0</Notes>
  <HiddenSlides>0</HiddenSlides>
  <MMClips>0</MMClips>
  <ScaleCrop>false</ScaleCrop>
  <HeadingPairs>
    <vt:vector size="4" baseType="variant">
      <vt:variant>
        <vt:lpstr>Dizains</vt:lpstr>
      </vt:variant>
      <vt:variant>
        <vt:i4>1</vt:i4>
      </vt:variant>
      <vt:variant>
        <vt:lpstr>Slaidu virsraksti</vt:lpstr>
      </vt:variant>
      <vt:variant>
        <vt:i4>9</vt:i4>
      </vt:variant>
    </vt:vector>
  </HeadingPairs>
  <TitlesOfParts>
    <vt:vector size="10" baseType="lpstr">
      <vt:lpstr>Office tēma</vt:lpstr>
      <vt:lpstr>Ziņu portāls "Latvijas ziņotājs"</vt:lpstr>
      <vt:lpstr>Par ziņu portālu "Latvijas ziņotājs"</vt:lpstr>
      <vt:lpstr>Ziņu portāla pamata uzdevumi</vt:lpstr>
      <vt:lpstr>Izmantotās tehnoloģijas</vt:lpstr>
      <vt:lpstr>Darba apjoms</vt:lpstr>
      <vt:lpstr>Programmas demonstrējums</vt:lpstr>
      <vt:lpstr>Testēšana</vt:lpstr>
      <vt:lpstr>Secinājumi</vt:lpstr>
      <vt:lpstr>Paldies par uzmanību!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1011</cp:revision>
  <dcterms:created xsi:type="dcterms:W3CDTF">2026-02-11T19:09:30Z</dcterms:created>
  <dcterms:modified xsi:type="dcterms:W3CDTF">2026-05-29T10:27:23Z</dcterms:modified>
</cp:coreProperties>
</file>